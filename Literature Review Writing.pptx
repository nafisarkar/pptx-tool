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0" r:id="rId3"/>
    <p:sldId id="285" r:id="rId4"/>
    <p:sldId id="283" r:id="rId5"/>
    <p:sldId id="284" r:id="rId6"/>
    <p:sldId id="286" r:id="rId7"/>
    <p:sldId id="287" r:id="rId8"/>
    <p:sldId id="288" r:id="rId9"/>
    <p:sldId id="289" r:id="rId10"/>
    <p:sldId id="282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4660"/>
  </p:normalViewPr>
  <p:slideViewPr>
    <p:cSldViewPr>
      <p:cViewPr varScale="1">
        <p:scale>
          <a:sx n="69" d="100"/>
          <a:sy n="69" d="100"/>
        </p:scale>
        <p:origin x="-16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17/2/2025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03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5875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80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7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2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3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17/2/2025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5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12846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35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486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7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24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1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17/2/2025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Literature Review Writing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6294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Dr. </a:t>
            </a:r>
            <a:r>
              <a:rPr lang="en-US" dirty="0" err="1" smtClean="0"/>
              <a:t>Arif</a:t>
            </a:r>
            <a:r>
              <a:rPr lang="en-US" dirty="0" smtClean="0"/>
              <a:t> Mahmud</a:t>
            </a:r>
          </a:p>
          <a:p>
            <a:r>
              <a:rPr lang="en-US" dirty="0" smtClean="0"/>
              <a:t>Associate Professor &amp; </a:t>
            </a:r>
            <a:r>
              <a:rPr lang="en-US" smtClean="0"/>
              <a:t>Associate Head</a:t>
            </a:r>
            <a:endParaRPr lang="en-US" dirty="0" smtClean="0"/>
          </a:p>
          <a:p>
            <a:r>
              <a:rPr lang="en-US" dirty="0" smtClean="0"/>
              <a:t>Department of CSE, Daffodil International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05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literature review is a process as well as an outcome!</a:t>
            </a:r>
          </a:p>
          <a:p>
            <a:r>
              <a:rPr lang="en-US" dirty="0"/>
              <a:t>Literature review as an outcome: appears in the final draft of your thesis as part of your introduction or as a separate chapter.</a:t>
            </a:r>
          </a:p>
          <a:p>
            <a:r>
              <a:rPr lang="en-US" dirty="0"/>
              <a:t>Literature review as a process: critical engagement (thinking, reading and writing) with relevant research on your topic. It is a crucial and formative stage of your thesis journey.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56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literature review (for)?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355600" marR="288290" indent="-342900" algn="just">
              <a:lnSpc>
                <a:spcPct val="791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Establishes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terms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spc="-1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exactly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you’re</a:t>
            </a:r>
            <a:r>
              <a:rPr lang="en-US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looking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its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limits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are?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5600" marR="123825" indent="-342900" algn="just">
              <a:lnSpc>
                <a:spcPct val="791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Presents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survey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preceding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literature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topic.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know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what’s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been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done</a:t>
            </a:r>
            <a:r>
              <a:rPr lang="en-US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already?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4965" indent="-342265" algn="just">
              <a:lnSpc>
                <a:spcPts val="2365"/>
              </a:lnSpc>
              <a:spcBef>
                <a:spcPts val="70"/>
              </a:spcBef>
              <a:buFont typeface="Arial"/>
              <a:buChar char="•"/>
              <a:tabLst>
                <a:tab pos="354965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Explores</a:t>
            </a:r>
            <a:r>
              <a:rPr lang="en-US" b="1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ways</a:t>
            </a:r>
            <a:r>
              <a:rPr lang="en-US" b="1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b="1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others</a:t>
            </a:r>
            <a:r>
              <a:rPr lang="en-US" b="1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have</a:t>
            </a:r>
            <a:r>
              <a:rPr lang="en-US" b="1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solved</a:t>
            </a:r>
            <a:r>
              <a:rPr lang="en-US" b="1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similar</a:t>
            </a:r>
            <a:r>
              <a:rPr lang="en-US" b="1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 smtClean="0">
                <a:latin typeface="Times New Roman" pitchFamily="18" charset="0"/>
                <a:cs typeface="Times New Roman" pitchFamily="18" charset="0"/>
              </a:rPr>
              <a:t>questions/problems.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appropriate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methodology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approach?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5600" marR="5080" indent="-342900" algn="just">
              <a:lnSpc>
                <a:spcPct val="8180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Outlines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relationship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these</a:t>
            </a:r>
            <a:r>
              <a:rPr lang="en-US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texts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25" dirty="0">
                <a:latin typeface="Times New Roman" pitchFamily="18" charset="0"/>
                <a:cs typeface="Times New Roman" pitchFamily="18" charset="0"/>
              </a:rPr>
              <a:t>other.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know</a:t>
            </a:r>
            <a:r>
              <a:rPr lang="en-US" i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perspectives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debates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are,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i="1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coming</a:t>
            </a:r>
            <a:r>
              <a:rPr lang="en-US" i="1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from?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5600" marR="266700" indent="-342900" algn="just">
              <a:lnSpc>
                <a:spcPct val="791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Evaluates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quality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relevance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literature.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able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build</a:t>
            </a:r>
            <a:r>
              <a:rPr lang="en-US" i="1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i="1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i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reject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5" dirty="0">
                <a:latin typeface="Times New Roman" pitchFamily="18" charset="0"/>
                <a:cs typeface="Times New Roman" pitchFamily="18" charset="0"/>
              </a:rPr>
              <a:t>it?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5600" marR="259079" indent="-342900" algn="just">
              <a:lnSpc>
                <a:spcPct val="791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Establishes</a:t>
            </a:r>
            <a:r>
              <a:rPr lang="en-US" b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gaps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inadequacies.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lang="en-US" i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i="1" spc="-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justify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your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own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contribution?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55600" marR="184785" indent="-342900" algn="just">
              <a:lnSpc>
                <a:spcPct val="79100"/>
              </a:lnSpc>
              <a:spcBef>
                <a:spcPts val="52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b="1" spc="-10" dirty="0">
                <a:latin typeface="Times New Roman" pitchFamily="18" charset="0"/>
                <a:cs typeface="Times New Roman" pitchFamily="18" charset="0"/>
              </a:rPr>
              <a:t>Demonstrates</a:t>
            </a:r>
            <a:r>
              <a:rPr lang="en-US" b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your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scholarly</a:t>
            </a:r>
            <a:r>
              <a:rPr lang="en-US" b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30" dirty="0">
                <a:latin typeface="Times New Roman" pitchFamily="18" charset="0"/>
                <a:cs typeface="Times New Roman" pitchFamily="18" charset="0"/>
              </a:rPr>
              <a:t>rigor.</a:t>
            </a:r>
            <a:r>
              <a:rPr lang="en-US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have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faith</a:t>
            </a:r>
            <a:r>
              <a:rPr lang="en-US" i="1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i="1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pc="-20" dirty="0">
                <a:latin typeface="Times New Roman" pitchFamily="18" charset="0"/>
                <a:cs typeface="Times New Roman" pitchFamily="18" charset="0"/>
              </a:rPr>
              <a:t>your </a:t>
            </a:r>
            <a:r>
              <a:rPr lang="en-US" i="1" spc="-10" dirty="0">
                <a:latin typeface="Times New Roman" pitchFamily="18" charset="0"/>
                <a:cs typeface="Times New Roman" pitchFamily="18" charset="0"/>
              </a:rPr>
              <a:t>conclusions?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0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to think about your own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Who are the key players in my field? This could be anything from academics, medics, governing bodies, schools of thought etc. (Sources!)</a:t>
            </a:r>
          </a:p>
          <a:p>
            <a:r>
              <a:rPr lang="en-US" dirty="0"/>
              <a:t>What are the main ideas/debates in my field?</a:t>
            </a:r>
          </a:p>
          <a:p>
            <a:r>
              <a:rPr lang="en-US" dirty="0"/>
              <a:t>How have these ideas changed over time?</a:t>
            </a:r>
          </a:p>
          <a:p>
            <a:r>
              <a:rPr lang="en-US" dirty="0"/>
              <a:t>What are some of the problems with these ideas/debates? Is there a problem with the methodology?</a:t>
            </a:r>
          </a:p>
          <a:p>
            <a:r>
              <a:rPr lang="en-US" dirty="0"/>
              <a:t>What are you going to do differently?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3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Study</a:t>
            </a:r>
            <a:endParaRPr lang="en-US" dirty="0"/>
          </a:p>
        </p:txBody>
      </p:sp>
      <p:pic>
        <p:nvPicPr>
          <p:cNvPr id="4" name="object 3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0" y="1600200"/>
            <a:ext cx="3239527" cy="4797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800" y="1674674"/>
            <a:ext cx="4343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YOU DON’T NEED TO READ EVERYTHING –</a:t>
            </a:r>
          </a:p>
          <a:p>
            <a:r>
              <a:rPr lang="en-US" sz="3600" dirty="0"/>
              <a:t>you can’t!</a:t>
            </a:r>
          </a:p>
          <a:p>
            <a:endParaRPr lang="en-US" sz="3600" dirty="0"/>
          </a:p>
          <a:p>
            <a:r>
              <a:rPr lang="en-US" sz="3600" dirty="0"/>
              <a:t>You don’t need to read every text</a:t>
            </a:r>
          </a:p>
          <a:p>
            <a:r>
              <a:rPr lang="en-US" sz="3600" dirty="0"/>
              <a:t>You don’t need to read every word</a:t>
            </a:r>
          </a:p>
        </p:txBody>
      </p:sp>
    </p:spTree>
    <p:extLst>
      <p:ext uri="{BB962C8B-B14F-4D97-AF65-F5344CB8AC3E}">
        <p14:creationId xmlns:p14="http://schemas.microsoft.com/office/powerpoint/2010/main" val="218617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started: Planning the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Chronologically?</a:t>
            </a:r>
          </a:p>
          <a:p>
            <a:r>
              <a:rPr lang="en-US" dirty="0"/>
              <a:t>Thematically?</a:t>
            </a:r>
          </a:p>
          <a:p>
            <a:r>
              <a:rPr lang="en-US" dirty="0"/>
              <a:t>By trends/approaches/techniques?</a:t>
            </a:r>
          </a:p>
          <a:p>
            <a:r>
              <a:rPr lang="en-US" dirty="0"/>
              <a:t>Major debates/controversies?</a:t>
            </a:r>
          </a:p>
          <a:p>
            <a:r>
              <a:rPr lang="en-US" dirty="0"/>
              <a:t>Probably a combination of these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8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and proofreading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Editing and proofreading are fundamental aspects of good academic practice.</a:t>
            </a:r>
          </a:p>
          <a:p>
            <a:endParaRPr lang="en-US" dirty="0"/>
          </a:p>
          <a:p>
            <a:r>
              <a:rPr lang="en-US" dirty="0"/>
              <a:t>Editing  is  the  process  of  continually  revising  and improving your written work. It is often an activity that forms a major part of the writing process.</a:t>
            </a:r>
          </a:p>
          <a:p>
            <a:endParaRPr lang="en-US" dirty="0"/>
          </a:p>
          <a:p>
            <a:r>
              <a:rPr lang="en-US" dirty="0"/>
              <a:t>Proofreading  is  the  final  check  before  printing  and submission. It is a process that helps remove errors and improve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3400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GB" dirty="0"/>
              <a:t>This research identifies six UTAUT 2-based papers that are as follows. First, </a:t>
            </a:r>
            <a:r>
              <a:rPr lang="en-GB" dirty="0" err="1"/>
              <a:t>Abushakra</a:t>
            </a:r>
            <a:r>
              <a:rPr lang="en-GB" dirty="0"/>
              <a:t> and </a:t>
            </a:r>
            <a:r>
              <a:rPr lang="en-GB" dirty="0" err="1"/>
              <a:t>Nikbin</a:t>
            </a:r>
            <a:r>
              <a:rPr lang="en-GB" dirty="0"/>
              <a:t> (2019) and </a:t>
            </a:r>
            <a:r>
              <a:rPr lang="en-GB" dirty="0" err="1"/>
              <a:t>Alkawsi</a:t>
            </a:r>
            <a:r>
              <a:rPr lang="en-GB" dirty="0"/>
              <a:t> </a:t>
            </a:r>
            <a:r>
              <a:rPr lang="en-US" dirty="0"/>
              <a:t>et al. (</a:t>
            </a:r>
            <a:r>
              <a:rPr lang="en-GB" dirty="0"/>
              <a:t>2018) study IoT-based applications from entrepreneur and consumer perspectives. As per </a:t>
            </a:r>
            <a:r>
              <a:rPr lang="en-GB" dirty="0" err="1"/>
              <a:t>Abushakra</a:t>
            </a:r>
            <a:r>
              <a:rPr lang="en-GB" dirty="0"/>
              <a:t> and </a:t>
            </a:r>
            <a:r>
              <a:rPr lang="en-GB" dirty="0" err="1"/>
              <a:t>Nikbin</a:t>
            </a:r>
            <a:r>
              <a:rPr lang="en-GB" dirty="0"/>
              <a:t> (2019), entrepreneurs do not embrace IoT services when the procedures are not advantageous, convenient, and simple. Alternatively, new approaches and management strategies are required to improve the adoption rates among consumers (</a:t>
            </a:r>
            <a:r>
              <a:rPr lang="en-GB" dirty="0" err="1"/>
              <a:t>Alkawsi</a:t>
            </a:r>
            <a:r>
              <a:rPr lang="en-US" dirty="0"/>
              <a:t> et al., </a:t>
            </a:r>
            <a:r>
              <a:rPr lang="en-GB" dirty="0"/>
              <a:t>2018). In both cases, knowledge of the system has a high influence on the adoption intention.</a:t>
            </a:r>
            <a:endParaRPr lang="en-US" dirty="0"/>
          </a:p>
          <a:p>
            <a:pPr algn="just"/>
            <a:r>
              <a:rPr lang="en-GB" dirty="0"/>
              <a:t>Furthermore, different age groups have different priorities, beliefs, and expectations for IoT-based systems. For example, those between 20 to 30 years of age bear more faith in non-profit and profitable companies, whereas the elder groups are discerned to have faith only in public organizations (</a:t>
            </a:r>
            <a:r>
              <a:rPr lang="en-GB" dirty="0" err="1"/>
              <a:t>Radenković</a:t>
            </a:r>
            <a:r>
              <a:rPr lang="en-US" dirty="0"/>
              <a:t> et al., </a:t>
            </a:r>
            <a:r>
              <a:rPr lang="en-GB" dirty="0"/>
              <a:t>2020). Similarly, personality-related issues with age have a significant impact on the adoption of RFID in healthcare (Chong</a:t>
            </a:r>
            <a:r>
              <a:rPr lang="en-US" dirty="0"/>
              <a:t> et al., </a:t>
            </a:r>
            <a:r>
              <a:rPr lang="en-GB" dirty="0"/>
              <a:t>2015). For this reason, different types of services are recommended in these studies, keeping the age groups and individual characteristics in mind.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Resources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err="1"/>
              <a:t>Greenhalgh</a:t>
            </a:r>
            <a:r>
              <a:rPr lang="en-US" dirty="0"/>
              <a:t>, T. (2006) How to Read a Paper: The basics of evidence- based medicine Third edition. Oxford: Blackwell and BMJ</a:t>
            </a:r>
          </a:p>
          <a:p>
            <a:pPr algn="just"/>
            <a:r>
              <a:rPr lang="en-US" dirty="0"/>
              <a:t>Hart, C. (1998) Doing a Literature Review. London: SAGE</a:t>
            </a:r>
          </a:p>
          <a:p>
            <a:pPr algn="just"/>
            <a:r>
              <a:rPr lang="en-US" dirty="0" smtClean="0"/>
              <a:t>Ridley</a:t>
            </a:r>
            <a:r>
              <a:rPr lang="en-US" dirty="0"/>
              <a:t>, D. (2008) The Literature Review: A Step-by-Step Guide for Students. London: SAGE</a:t>
            </a:r>
          </a:p>
          <a:p>
            <a:pPr algn="just"/>
            <a:r>
              <a:rPr lang="en-US" dirty="0" err="1" smtClean="0"/>
              <a:t>Yudkin</a:t>
            </a:r>
            <a:r>
              <a:rPr lang="en-US" dirty="0"/>
              <a:t>, B. (2006) Critical Reading: Making sense of research papers in life sciences and medicine. London: </a:t>
            </a:r>
            <a:r>
              <a:rPr lang="en-US" dirty="0" err="1"/>
              <a:t>Routledge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86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b="1" dirty="0" smtClean="0"/>
              <a:t>Thank You</a:t>
            </a:r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43200"/>
            <a:ext cx="38100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425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7442430</TotalTime>
  <Words>736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Oriel</vt:lpstr>
      <vt:lpstr>1_Oriel</vt:lpstr>
      <vt:lpstr>Literature Review Writing</vt:lpstr>
      <vt:lpstr>literature review </vt:lpstr>
      <vt:lpstr>What is a literature review (for)?</vt:lpstr>
      <vt:lpstr>Starting to think about your own literature review</vt:lpstr>
      <vt:lpstr>How to Study</vt:lpstr>
      <vt:lpstr>Getting started: Planning the review</vt:lpstr>
      <vt:lpstr>Editing and proofreading </vt:lpstr>
      <vt:lpstr>Example</vt:lpstr>
      <vt:lpstr>Further Resources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design project</dc:title>
  <dc:creator>Arif Mahmud</dc:creator>
  <cp:lastModifiedBy>Arif Mahmud</cp:lastModifiedBy>
  <cp:revision>113</cp:revision>
  <dcterms:created xsi:type="dcterms:W3CDTF">2006-08-16T00:00:00Z</dcterms:created>
  <dcterms:modified xsi:type="dcterms:W3CDTF">2025-02-17T13:02:25Z</dcterms:modified>
</cp:coreProperties>
</file>